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308725" cy="12782550"/>
  <p:notesSz cx="12782550" cy="63087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2418" y="-26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220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3716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AR" dirty="0"/>
              <a:t>Gestión integral de ítems de ensayo </a:t>
            </a: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AnalyticsNoa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274320" y="934974"/>
            <a:ext cx="5852160" cy="5234940"/>
          </a:xfrm>
          <a:prstGeom prst="rect">
            <a:avLst/>
          </a:prstGeom>
          <a:solidFill>
            <a:srgbClr val="CADCFC">
              <a:alpha val="12000"/>
            </a:srgbClr>
          </a:solidFill>
          <a:ln w="12700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es-AR" dirty="0"/>
          </a:p>
        </p:txBody>
      </p:sp>
      <p:sp>
        <p:nvSpPr>
          <p:cNvPr id="4" name="Text 2"/>
          <p:cNvSpPr/>
          <p:nvPr/>
        </p:nvSpPr>
        <p:spPr>
          <a:xfrm>
            <a:off x="274320" y="97840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la solicitud del cliente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6327648"/>
            <a:ext cx="5852160" cy="2354580"/>
          </a:xfrm>
          <a:prstGeom prst="rect">
            <a:avLst/>
          </a:prstGeom>
          <a:solidFill>
            <a:srgbClr val="D7EFD9">
              <a:alpha val="12000"/>
            </a:srgbClr>
          </a:solidFill>
          <a:ln w="12700">
            <a:solidFill>
              <a:srgbClr val="2C5F2D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6" name="Text 4"/>
          <p:cNvSpPr/>
          <p:nvPr/>
        </p:nvSpPr>
        <p:spPr>
          <a:xfrm>
            <a:off x="274320" y="634593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de muestra y acondicionamiento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8814816"/>
            <a:ext cx="5852160" cy="1935347"/>
          </a:xfrm>
          <a:prstGeom prst="rect">
            <a:avLst/>
          </a:prstGeom>
          <a:solidFill>
            <a:srgbClr val="F9E0C6">
              <a:alpha val="12000"/>
            </a:srgbClr>
          </a:solidFill>
          <a:ln w="12700">
            <a:solidFill>
              <a:srgbClr val="B85042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/>
          <p:nvPr/>
        </p:nvSpPr>
        <p:spPr>
          <a:xfrm>
            <a:off x="274320" y="883310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26614" y="10867046"/>
            <a:ext cx="5852160" cy="1127596"/>
          </a:xfrm>
          <a:prstGeom prst="rect">
            <a:avLst/>
          </a:prstGeom>
          <a:solidFill>
            <a:srgbClr val="E6D9F2">
              <a:alpha val="12000"/>
            </a:srgbClr>
          </a:solidFill>
          <a:ln w="12700">
            <a:solidFill>
              <a:srgbClr val="5B2C6F"/>
            </a:solidFill>
            <a:prstDash val="dash"/>
          </a:ln>
        </p:spPr>
        <p:txBody>
          <a:bodyPr/>
          <a:lstStyle/>
          <a:p>
            <a:endParaRPr lang="es-AR"/>
          </a:p>
        </p:txBody>
      </p:sp>
      <p:sp>
        <p:nvSpPr>
          <p:cNvPr id="10" name="Text 8"/>
          <p:cNvSpPr/>
          <p:nvPr/>
        </p:nvSpPr>
        <p:spPr>
          <a:xfrm>
            <a:off x="226614" y="10906803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B2C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563624" y="1923622"/>
            <a:ext cx="0" cy="4114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2" name="Shape 10"/>
          <p:cNvSpPr/>
          <p:nvPr/>
        </p:nvSpPr>
        <p:spPr>
          <a:xfrm>
            <a:off x="1554480" y="2883742"/>
            <a:ext cx="0" cy="29718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3" name="Shape 11"/>
          <p:cNvSpPr/>
          <p:nvPr/>
        </p:nvSpPr>
        <p:spPr>
          <a:xfrm flipH="1">
            <a:off x="1554479" y="3958161"/>
            <a:ext cx="1" cy="32639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4" name="Text 12"/>
          <p:cNvSpPr/>
          <p:nvPr/>
        </p:nvSpPr>
        <p:spPr>
          <a:xfrm>
            <a:off x="1337803" y="3978641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377440" y="3559900"/>
            <a:ext cx="50292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6" name="Text 14"/>
          <p:cNvSpPr/>
          <p:nvPr/>
        </p:nvSpPr>
        <p:spPr>
          <a:xfrm>
            <a:off x="2304288" y="3303868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554480" y="4997791"/>
            <a:ext cx="0" cy="423509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18" name="Text 16"/>
          <p:cNvSpPr/>
          <p:nvPr/>
        </p:nvSpPr>
        <p:spPr>
          <a:xfrm>
            <a:off x="1325880" y="5105907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23160" y="4669897"/>
            <a:ext cx="457200" cy="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0" name="Text 18"/>
          <p:cNvSpPr/>
          <p:nvPr/>
        </p:nvSpPr>
        <p:spPr>
          <a:xfrm>
            <a:off x="2340864" y="4428775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931920" y="4971354"/>
            <a:ext cx="0" cy="163886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5" name="Shape 23"/>
          <p:cNvSpPr/>
          <p:nvPr/>
        </p:nvSpPr>
        <p:spPr>
          <a:xfrm>
            <a:off x="3931920" y="7140071"/>
            <a:ext cx="0" cy="440304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6" name="Shape 24"/>
          <p:cNvSpPr/>
          <p:nvPr/>
        </p:nvSpPr>
        <p:spPr>
          <a:xfrm flipH="1">
            <a:off x="3931920" y="8357615"/>
            <a:ext cx="9144" cy="667711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27" name="Text 25"/>
          <p:cNvSpPr/>
          <p:nvPr/>
        </p:nvSpPr>
        <p:spPr>
          <a:xfrm>
            <a:off x="3812652" y="8400254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28628" y="7754560"/>
            <a:ext cx="640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941064" y="9573966"/>
            <a:ext cx="0" cy="402138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33" name="Shape 31"/>
          <p:cNvSpPr/>
          <p:nvPr/>
        </p:nvSpPr>
        <p:spPr>
          <a:xfrm flipH="1">
            <a:off x="3914229" y="10542035"/>
            <a:ext cx="9144" cy="729535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  <p:txBody>
          <a:bodyPr/>
          <a:lstStyle/>
          <a:p>
            <a:endParaRPr lang="es-AR"/>
          </a:p>
        </p:txBody>
      </p:sp>
      <p:sp>
        <p:nvSpPr>
          <p:cNvPr id="37" name="Shape 35"/>
          <p:cNvSpPr/>
          <p:nvPr/>
        </p:nvSpPr>
        <p:spPr>
          <a:xfrm>
            <a:off x="510871" y="1374982"/>
            <a:ext cx="2103120" cy="548640"/>
          </a:xfrm>
          <a:prstGeom prst="ellipse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38" name="Text 36"/>
          <p:cNvSpPr/>
          <p:nvPr/>
        </p:nvSpPr>
        <p:spPr>
          <a:xfrm>
            <a:off x="576072" y="137498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solicita un ensayo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2335102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0" name="Text 38"/>
          <p:cNvSpPr/>
          <p:nvPr/>
        </p:nvSpPr>
        <p:spPr>
          <a:xfrm>
            <a:off x="576072" y="233510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Anánilisis de la solicitud del cliente y cambios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772544" y="2054821"/>
            <a:ext cx="1703567" cy="1704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Contenido mínimo de la revisión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669898" y="3180922"/>
            <a:ext cx="1737360" cy="777240"/>
          </a:xfrm>
          <a:prstGeom prst="diamond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3" name="Text 41"/>
          <p:cNvSpPr/>
          <p:nvPr/>
        </p:nvSpPr>
        <p:spPr>
          <a:xfrm>
            <a:off x="758952" y="3180922"/>
            <a:ext cx="159105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¿Es factible?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959948" y="2346931"/>
            <a:ext cx="1737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Decisión con DT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85800" y="4268258"/>
            <a:ext cx="1737360" cy="777240"/>
          </a:xfrm>
          <a:prstGeom prst="diamond">
            <a:avLst/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6" name="Text 44"/>
          <p:cNvSpPr/>
          <p:nvPr/>
        </p:nvSpPr>
        <p:spPr>
          <a:xfrm>
            <a:off x="758952" y="4268258"/>
            <a:ext cx="159105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¿muestro por el cliente?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5422193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CADCFC"/>
          </a:solidFill>
          <a:ln w="15875">
            <a:solidFill>
              <a:srgbClr val="1E2761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48" name="Text 46"/>
          <p:cNvSpPr/>
          <p:nvPr/>
        </p:nvSpPr>
        <p:spPr>
          <a:xfrm>
            <a:off x="576072" y="5422193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Entregar recomendación de muestreo al cliente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481328" y="5957935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Instructivos de toma de muestra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2880360" y="4404426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D7EFD9"/>
          </a:solidFill>
          <a:ln w="15875">
            <a:solidFill>
              <a:srgbClr val="2C5F2D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1" name="Text 49"/>
          <p:cNvSpPr/>
          <p:nvPr/>
        </p:nvSpPr>
        <p:spPr>
          <a:xfrm>
            <a:off x="2953512" y="4396475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del muestreo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323844" y="5130577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Plan de muestreo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2880360" y="6591431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D7EFD9"/>
          </a:solidFill>
          <a:ln w="15875">
            <a:solidFill>
              <a:srgbClr val="2C5F2D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4" name="Text 52"/>
          <p:cNvSpPr/>
          <p:nvPr/>
        </p:nvSpPr>
        <p:spPr>
          <a:xfrm>
            <a:off x="2953512" y="6591431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 y preservación de la muestra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645920" y="737920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Transporte y cadena de custodia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063240" y="7580375"/>
            <a:ext cx="1737360" cy="777240"/>
          </a:xfrm>
          <a:prstGeom prst="diamond">
            <a:avLst/>
          </a:prstGeom>
          <a:solidFill>
            <a:srgbClr val="D7EFD9"/>
          </a:solidFill>
          <a:ln w="15875">
            <a:solidFill>
              <a:srgbClr val="2C5F2D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7" name="Text 55"/>
          <p:cNvSpPr/>
          <p:nvPr/>
        </p:nvSpPr>
        <p:spPr>
          <a:xfrm>
            <a:off x="3136392" y="7580375"/>
            <a:ext cx="1591056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¿muestra en condiciones?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880360" y="9007038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9E0C6"/>
          </a:solidFill>
          <a:ln w="15875">
            <a:solidFill>
              <a:srgbClr val="B85042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59" name="Text 57"/>
          <p:cNvSpPr/>
          <p:nvPr/>
        </p:nvSpPr>
        <p:spPr>
          <a:xfrm>
            <a:off x="2953512" y="9007038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Recepción de la muestra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859537" y="9221724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ver instructivo de recepción de muestra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2880360" y="9967158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F9E0C6"/>
          </a:solidFill>
          <a:ln w="15875">
            <a:solidFill>
              <a:srgbClr val="B85042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2" name="Text 60"/>
          <p:cNvSpPr/>
          <p:nvPr/>
        </p:nvSpPr>
        <p:spPr>
          <a:xfrm>
            <a:off x="2953512" y="9967158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y conservación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804672" y="10173128"/>
            <a:ext cx="21031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Condiciones de lamacenamiento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2880360" y="3301185"/>
            <a:ext cx="2103120" cy="548640"/>
          </a:xfrm>
          <a:prstGeom prst="roundRect">
            <a:avLst>
              <a:gd name="adj" fmla="val 16667"/>
            </a:avLst>
          </a:prstGeom>
          <a:solidFill>
            <a:srgbClr val="EDEDED"/>
          </a:solidFill>
          <a:ln w="15875">
            <a:solidFill>
              <a:srgbClr val="555555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/>
          </a:p>
        </p:txBody>
      </p:sp>
      <p:sp>
        <p:nvSpPr>
          <p:cNvPr id="65" name="Text 63"/>
          <p:cNvSpPr/>
          <p:nvPr/>
        </p:nvSpPr>
        <p:spPr>
          <a:xfrm>
            <a:off x="2953512" y="3309136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 rechazo al cliente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872409" y="11247714"/>
            <a:ext cx="2103120" cy="548640"/>
          </a:xfrm>
          <a:prstGeom prst="ellipse">
            <a:avLst/>
          </a:prstGeom>
          <a:solidFill>
            <a:srgbClr val="E6D9F2"/>
          </a:solidFill>
          <a:ln w="15875">
            <a:solidFill>
              <a:srgbClr val="5B2C6F"/>
            </a:solidFill>
            <a:prstDash val="solid"/>
          </a:ln>
          <a:effectLst>
            <a:outerShdw blurRad="38100" dist="12700" dir="5400000" algn="bl" rotWithShape="0">
              <a:srgbClr val="888888">
                <a:alpha val="25000"/>
              </a:srgbClr>
            </a:outerShdw>
          </a:effectLst>
        </p:spPr>
        <p:txBody>
          <a:bodyPr/>
          <a:lstStyle/>
          <a:p>
            <a:endParaRPr lang="es-AR" dirty="0"/>
          </a:p>
        </p:txBody>
      </p:sp>
      <p:sp>
        <p:nvSpPr>
          <p:cNvPr id="67" name="Text 65"/>
          <p:cNvSpPr/>
          <p:nvPr/>
        </p:nvSpPr>
        <p:spPr>
          <a:xfrm>
            <a:off x="2905806" y="11231812"/>
            <a:ext cx="1956816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(a </a:t>
            </a:r>
            <a:r>
              <a:rPr lang="en-US" sz="10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</a:t>
            </a: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analítico</a:t>
            </a: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0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</a:t>
            </a: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000" dirty="0" err="1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ensayo</a:t>
            </a:r>
            <a:r>
              <a:rPr lang="en-US" sz="100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00" dirty="0"/>
          </a:p>
        </p:txBody>
      </p:sp>
      <p:cxnSp>
        <p:nvCxnSpPr>
          <p:cNvPr id="69" name="Conector: angular 68">
            <a:extLst>
              <a:ext uri="{FF2B5EF4-FFF2-40B4-BE49-F238E27FC236}">
                <a16:creationId xmlns:a16="http://schemas.microsoft.com/office/drawing/2014/main" id="{FAC12A17-C410-066F-1174-0144C578DD33}"/>
              </a:ext>
            </a:extLst>
          </p:cNvPr>
          <p:cNvCxnSpPr>
            <a:stCxn id="47" idx="2"/>
            <a:endCxn id="56" idx="1"/>
          </p:cNvCxnSpPr>
          <p:nvPr/>
        </p:nvCxnSpPr>
        <p:spPr>
          <a:xfrm rot="16200000" flipH="1">
            <a:off x="1309779" y="6215534"/>
            <a:ext cx="1998162" cy="1508760"/>
          </a:xfrm>
          <a:prstGeom prst="bentConnector2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cxnSp>
      <p:cxnSp>
        <p:nvCxnSpPr>
          <p:cNvPr id="77" name="Conector: angular 76">
            <a:extLst>
              <a:ext uri="{FF2B5EF4-FFF2-40B4-BE49-F238E27FC236}">
                <a16:creationId xmlns:a16="http://schemas.microsoft.com/office/drawing/2014/main" id="{DB0381A8-F0B5-8230-FE2E-C71DCC52D5E0}"/>
              </a:ext>
            </a:extLst>
          </p:cNvPr>
          <p:cNvCxnSpPr>
            <a:stCxn id="56" idx="3"/>
            <a:endCxn id="39" idx="3"/>
          </p:cNvCxnSpPr>
          <p:nvPr/>
        </p:nvCxnSpPr>
        <p:spPr>
          <a:xfrm flipH="1" flipV="1">
            <a:off x="2606040" y="2609422"/>
            <a:ext cx="2194560" cy="5359573"/>
          </a:xfrm>
          <a:prstGeom prst="bentConnector3">
            <a:avLst>
              <a:gd name="adj1" fmla="val -43026"/>
            </a:avLst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cxnSp>
      <p:cxnSp>
        <p:nvCxnSpPr>
          <p:cNvPr id="81" name="Conector: angular 80">
            <a:extLst>
              <a:ext uri="{FF2B5EF4-FFF2-40B4-BE49-F238E27FC236}">
                <a16:creationId xmlns:a16="http://schemas.microsoft.com/office/drawing/2014/main" id="{95FDCB78-2E81-00D3-9BF4-61E6A32668CF}"/>
              </a:ext>
            </a:extLst>
          </p:cNvPr>
          <p:cNvCxnSpPr>
            <a:cxnSpLocks/>
            <a:stCxn id="64" idx="3"/>
            <a:endCxn id="66" idx="6"/>
          </p:cNvCxnSpPr>
          <p:nvPr/>
        </p:nvCxnSpPr>
        <p:spPr>
          <a:xfrm flipH="1">
            <a:off x="4975529" y="3575505"/>
            <a:ext cx="7951" cy="7946529"/>
          </a:xfrm>
          <a:prstGeom prst="bentConnector3">
            <a:avLst>
              <a:gd name="adj1" fmla="val -6575248"/>
            </a:avLst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cxnSp>
      <p:sp>
        <p:nvSpPr>
          <p:cNvPr id="88" name="Elipse 87">
            <a:extLst>
              <a:ext uri="{FF2B5EF4-FFF2-40B4-BE49-F238E27FC236}">
                <a16:creationId xmlns:a16="http://schemas.microsoft.com/office/drawing/2014/main" id="{50627B35-00F5-073B-9600-9893E49B7974}"/>
              </a:ext>
            </a:extLst>
          </p:cNvPr>
          <p:cNvSpPr/>
          <p:nvPr/>
        </p:nvSpPr>
        <p:spPr>
          <a:xfrm>
            <a:off x="3832529" y="1049572"/>
            <a:ext cx="198782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</a:t>
            </a:r>
          </a:p>
        </p:txBody>
      </p:sp>
      <p:sp>
        <p:nvSpPr>
          <p:cNvPr id="90" name="Elipse 89">
            <a:extLst>
              <a:ext uri="{FF2B5EF4-FFF2-40B4-BE49-F238E27FC236}">
                <a16:creationId xmlns:a16="http://schemas.microsoft.com/office/drawing/2014/main" id="{A6972A8D-A7F9-9021-D2BC-7F918C421799}"/>
              </a:ext>
            </a:extLst>
          </p:cNvPr>
          <p:cNvSpPr/>
          <p:nvPr/>
        </p:nvSpPr>
        <p:spPr>
          <a:xfrm>
            <a:off x="1455089" y="6067888"/>
            <a:ext cx="198782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1</a:t>
            </a:r>
          </a:p>
        </p:txBody>
      </p:sp>
      <p:sp>
        <p:nvSpPr>
          <p:cNvPr id="92" name="Elipse 91">
            <a:extLst>
              <a:ext uri="{FF2B5EF4-FFF2-40B4-BE49-F238E27FC236}">
                <a16:creationId xmlns:a16="http://schemas.microsoft.com/office/drawing/2014/main" id="{59CBC17A-CCF7-4457-93FA-3BBD17A65196}"/>
              </a:ext>
            </a:extLst>
          </p:cNvPr>
          <p:cNvSpPr/>
          <p:nvPr/>
        </p:nvSpPr>
        <p:spPr>
          <a:xfrm>
            <a:off x="3844655" y="1335322"/>
            <a:ext cx="198782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</a:t>
            </a:r>
          </a:p>
        </p:txBody>
      </p:sp>
      <p:sp>
        <p:nvSpPr>
          <p:cNvPr id="94" name="Elipse 93">
            <a:extLst>
              <a:ext uri="{FF2B5EF4-FFF2-40B4-BE49-F238E27FC236}">
                <a16:creationId xmlns:a16="http://schemas.microsoft.com/office/drawing/2014/main" id="{2485548C-9A80-64A6-882D-F65E03AF736A}"/>
              </a:ext>
            </a:extLst>
          </p:cNvPr>
          <p:cNvSpPr/>
          <p:nvPr/>
        </p:nvSpPr>
        <p:spPr>
          <a:xfrm>
            <a:off x="3844655" y="8416254"/>
            <a:ext cx="198782" cy="18288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AR" dirty="0"/>
              <a:t>2</a:t>
            </a:r>
          </a:p>
        </p:txBody>
      </p:sp>
      <p:sp>
        <p:nvSpPr>
          <p:cNvPr id="96" name="Text 42">
            <a:extLst>
              <a:ext uri="{FF2B5EF4-FFF2-40B4-BE49-F238E27FC236}">
                <a16:creationId xmlns:a16="http://schemas.microsoft.com/office/drawing/2014/main" id="{77C58FCA-FC91-9E23-BAA4-B4A11B8E82B3}"/>
              </a:ext>
            </a:extLst>
          </p:cNvPr>
          <p:cNvSpPr/>
          <p:nvPr/>
        </p:nvSpPr>
        <p:spPr>
          <a:xfrm>
            <a:off x="4043437" y="1051560"/>
            <a:ext cx="2083042" cy="19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</a:t>
            </a: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la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</a:t>
            </a: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  <p:sp>
        <p:nvSpPr>
          <p:cNvPr id="98" name="Text 42">
            <a:extLst>
              <a:ext uri="{FF2B5EF4-FFF2-40B4-BE49-F238E27FC236}">
                <a16:creationId xmlns:a16="http://schemas.microsoft.com/office/drawing/2014/main" id="{CCDE811D-D5F4-9729-742D-B32A80ED04F0}"/>
              </a:ext>
            </a:extLst>
          </p:cNvPr>
          <p:cNvSpPr/>
          <p:nvPr/>
        </p:nvSpPr>
        <p:spPr>
          <a:xfrm>
            <a:off x="4043436" y="1331649"/>
            <a:ext cx="2083042" cy="1967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ⓘ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</a:t>
            </a: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aceptación</a:t>
            </a: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rechazo</a:t>
            </a:r>
            <a:r>
              <a:rPr lang="en-US" sz="700" i="1" dirty="0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700" i="1" dirty="0" err="1">
                <a:solidFill>
                  <a:sysClr val="windowText" lastClr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</a:t>
            </a:r>
            <a:endParaRPr lang="en-US" sz="700" dirty="0">
              <a:solidFill>
                <a:sysClr val="windowText" lastClr="0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</TotalTime>
  <Words>149</Words>
  <Application>Microsoft Office PowerPoint</Application>
  <PresentationFormat>Personalizado</PresentationFormat>
  <Paragraphs>37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Fernando Canna</cp:lastModifiedBy>
  <cp:revision>2</cp:revision>
  <dcterms:created xsi:type="dcterms:W3CDTF">2026-07-18T16:17:05Z</dcterms:created>
  <dcterms:modified xsi:type="dcterms:W3CDTF">2026-07-18T18:30:35Z</dcterms:modified>
</cp:coreProperties>
</file>